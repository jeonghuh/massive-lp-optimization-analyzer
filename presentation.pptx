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88" r:id="rId5"/>
    <p:sldId id="302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15" r:id="rId20"/>
    <p:sldId id="316" r:id="rId21"/>
    <p:sldId id="317" r:id="rId22"/>
    <p:sldId id="285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8" r:id="rId36"/>
    <p:sldId id="319" r:id="rId37"/>
    <p:sldId id="320" r:id="rId38"/>
    <p:sldId id="281" r:id="rId39"/>
  </p:sldIdLst>
  <p:sldSz cx="12192000" cy="6858000"/>
  <p:notesSz cx="6858000" cy="9144000"/>
  <p:embeddedFontLst>
    <p:embeddedFont>
      <p:font typeface="Montserrat Black" panose="00000A00000000000000" pitchFamily="2" charset="0"/>
      <p:bold r:id="rId40"/>
      <p:boldItalic r:id="rId41"/>
    </p:embeddedFont>
    <p:embeddedFont>
      <p:font typeface="Montserrat SemiBold" panose="00000700000000000000" pitchFamily="2" charset="0"/>
      <p:bold r:id="rId42"/>
      <p:boldItalic r:id="rId43"/>
    </p:embeddedFont>
    <p:embeddedFont>
      <p:font typeface="나눔고딕" panose="020D0604000000000000" pitchFamily="50" charset="-127"/>
      <p:regular r:id="rId44"/>
      <p:bold r:id="rId45"/>
    </p:embeddedFont>
    <p:embeddedFont>
      <p:font typeface="맑은 고딕" panose="020B0503020000020004" pitchFamily="50" charset="-127"/>
      <p:regular r:id="rId46"/>
      <p:bold r:id="rId4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E"/>
    <a:srgbClr val="E9E9E9"/>
    <a:srgbClr val="E4E3E1"/>
    <a:srgbClr val="E6E4E5"/>
    <a:srgbClr val="D1D1CF"/>
    <a:srgbClr val="DEDEE0"/>
    <a:srgbClr val="E1E1E2"/>
    <a:srgbClr val="E8E2E2"/>
    <a:srgbClr val="EAEBED"/>
    <a:srgbClr val="EDEDE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4DA758-C7B5-49E8-8F57-C5F5D0398186}" v="4" dt="2023-12-17T13:54:54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 showGuides="1">
      <p:cViewPr varScale="1">
        <p:scale>
          <a:sx n="50" d="100"/>
          <a:sy n="50" d="100"/>
        </p:scale>
        <p:origin x="38" y="8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허정후" userId="5fe8e1e9-5508-4f3d-9825-0f6af90bf0f9" providerId="ADAL" clId="{CD4DA758-C7B5-49E8-8F57-C5F5D0398186}"/>
    <pc:docChg chg="custSel modSld">
      <pc:chgData name="허정후" userId="5fe8e1e9-5508-4f3d-9825-0f6af90bf0f9" providerId="ADAL" clId="{CD4DA758-C7B5-49E8-8F57-C5F5D0398186}" dt="2023-12-17T13:54:54.196" v="14"/>
      <pc:docMkLst>
        <pc:docMk/>
      </pc:docMkLst>
      <pc:sldChg chg="addSp delSp modSp mod">
        <pc:chgData name="허정후" userId="5fe8e1e9-5508-4f3d-9825-0f6af90bf0f9" providerId="ADAL" clId="{CD4DA758-C7B5-49E8-8F57-C5F5D0398186}" dt="2023-12-17T13:54:08.077" v="7"/>
        <pc:sldMkLst>
          <pc:docMk/>
          <pc:sldMk cId="120939124" sldId="293"/>
        </pc:sldMkLst>
        <pc:picChg chg="add mod">
          <ac:chgData name="허정후" userId="5fe8e1e9-5508-4f3d-9825-0f6af90bf0f9" providerId="ADAL" clId="{CD4DA758-C7B5-49E8-8F57-C5F5D0398186}" dt="2023-12-17T13:54:08.077" v="7"/>
          <ac:picMkLst>
            <pc:docMk/>
            <pc:sldMk cId="120939124" sldId="293"/>
            <ac:picMk id="2" creationId="{21DA0C5A-CE5C-32DB-2708-1B146D55AD28}"/>
          </ac:picMkLst>
        </pc:picChg>
        <pc:picChg chg="del">
          <ac:chgData name="허정후" userId="5fe8e1e9-5508-4f3d-9825-0f6af90bf0f9" providerId="ADAL" clId="{CD4DA758-C7B5-49E8-8F57-C5F5D0398186}" dt="2023-12-17T13:54:04.989" v="6" actId="478"/>
          <ac:picMkLst>
            <pc:docMk/>
            <pc:sldMk cId="120939124" sldId="293"/>
            <ac:picMk id="13" creationId="{DAE97C7B-CE4C-180F-A625-417DB81FCC7B}"/>
          </ac:picMkLst>
        </pc:picChg>
      </pc:sldChg>
      <pc:sldChg chg="addSp delSp modSp mod">
        <pc:chgData name="허정후" userId="5fe8e1e9-5508-4f3d-9825-0f6af90bf0f9" providerId="ADAL" clId="{CD4DA758-C7B5-49E8-8F57-C5F5D0398186}" dt="2023-12-17T13:54:21.446" v="10" actId="167"/>
        <pc:sldMkLst>
          <pc:docMk/>
          <pc:sldMk cId="1004308006" sldId="294"/>
        </pc:sldMkLst>
        <pc:picChg chg="add mod ord">
          <ac:chgData name="허정후" userId="5fe8e1e9-5508-4f3d-9825-0f6af90bf0f9" providerId="ADAL" clId="{CD4DA758-C7B5-49E8-8F57-C5F5D0398186}" dt="2023-12-17T13:54:21.446" v="10" actId="167"/>
          <ac:picMkLst>
            <pc:docMk/>
            <pc:sldMk cId="1004308006" sldId="294"/>
            <ac:picMk id="8" creationId="{3D643F15-3C98-5309-700C-31BC48696BDF}"/>
          </ac:picMkLst>
        </pc:picChg>
        <pc:picChg chg="del">
          <ac:chgData name="허정후" userId="5fe8e1e9-5508-4f3d-9825-0f6af90bf0f9" providerId="ADAL" clId="{CD4DA758-C7B5-49E8-8F57-C5F5D0398186}" dt="2023-12-17T13:54:17.600" v="8" actId="478"/>
          <ac:picMkLst>
            <pc:docMk/>
            <pc:sldMk cId="1004308006" sldId="294"/>
            <ac:picMk id="13" creationId="{40FBCDC4-FAF6-E93D-222B-58074D5AAEB9}"/>
          </ac:picMkLst>
        </pc:picChg>
      </pc:sldChg>
      <pc:sldChg chg="addSp delSp modSp mod">
        <pc:chgData name="허정후" userId="5fe8e1e9-5508-4f3d-9825-0f6af90bf0f9" providerId="ADAL" clId="{CD4DA758-C7B5-49E8-8F57-C5F5D0398186}" dt="2023-12-17T13:54:54.196" v="14"/>
        <pc:sldMkLst>
          <pc:docMk/>
          <pc:sldMk cId="1830035235" sldId="307"/>
        </pc:sldMkLst>
        <pc:picChg chg="add mod">
          <ac:chgData name="허정후" userId="5fe8e1e9-5508-4f3d-9825-0f6af90bf0f9" providerId="ADAL" clId="{CD4DA758-C7B5-49E8-8F57-C5F5D0398186}" dt="2023-12-17T13:54:54.196" v="14"/>
          <ac:picMkLst>
            <pc:docMk/>
            <pc:sldMk cId="1830035235" sldId="307"/>
            <ac:picMk id="2" creationId="{55F5C29D-FAC0-66A7-55F1-193935111C93}"/>
          </ac:picMkLst>
        </pc:picChg>
        <pc:picChg chg="del">
          <ac:chgData name="허정후" userId="5fe8e1e9-5508-4f3d-9825-0f6af90bf0f9" providerId="ADAL" clId="{CD4DA758-C7B5-49E8-8F57-C5F5D0398186}" dt="2023-12-17T13:30:49.056" v="3" actId="478"/>
          <ac:picMkLst>
            <pc:docMk/>
            <pc:sldMk cId="1830035235" sldId="307"/>
            <ac:picMk id="8" creationId="{E2F75333-320F-26E8-A5E7-3E2F0C2C9122}"/>
          </ac:picMkLst>
        </pc:picChg>
        <pc:picChg chg="add del mod">
          <ac:chgData name="허정후" userId="5fe8e1e9-5508-4f3d-9825-0f6af90bf0f9" providerId="ADAL" clId="{CD4DA758-C7B5-49E8-8F57-C5F5D0398186}" dt="2023-12-17T13:54:53.881" v="13" actId="478"/>
          <ac:picMkLst>
            <pc:docMk/>
            <pc:sldMk cId="1830035235" sldId="307"/>
            <ac:picMk id="9" creationId="{99D83AD7-E638-8B4F-A355-0EF628021C0C}"/>
          </ac:picMkLst>
        </pc:picChg>
      </pc:sldChg>
      <pc:sldChg chg="addSp delSp modSp mod">
        <pc:chgData name="허정후" userId="5fe8e1e9-5508-4f3d-9825-0f6af90bf0f9" providerId="ADAL" clId="{CD4DA758-C7B5-49E8-8F57-C5F5D0398186}" dt="2023-12-17T13:54:45.271" v="12"/>
        <pc:sldMkLst>
          <pc:docMk/>
          <pc:sldMk cId="3751263712" sldId="308"/>
        </pc:sldMkLst>
        <pc:picChg chg="add mod">
          <ac:chgData name="허정후" userId="5fe8e1e9-5508-4f3d-9825-0f6af90bf0f9" providerId="ADAL" clId="{CD4DA758-C7B5-49E8-8F57-C5F5D0398186}" dt="2023-12-17T13:54:45.271" v="12"/>
          <ac:picMkLst>
            <pc:docMk/>
            <pc:sldMk cId="3751263712" sldId="308"/>
            <ac:picMk id="2" creationId="{723D0A38-D00F-2118-96C9-53AE1E16CAD4}"/>
          </ac:picMkLst>
        </pc:picChg>
        <pc:picChg chg="add del mod">
          <ac:chgData name="허정후" userId="5fe8e1e9-5508-4f3d-9825-0f6af90bf0f9" providerId="ADAL" clId="{CD4DA758-C7B5-49E8-8F57-C5F5D0398186}" dt="2023-12-17T13:54:45.020" v="11" actId="478"/>
          <ac:picMkLst>
            <pc:docMk/>
            <pc:sldMk cId="3751263712" sldId="308"/>
            <ac:picMk id="8" creationId="{F0CAF5E8-8084-F9A1-38D7-CE55FB2DED95}"/>
          </ac:picMkLst>
        </pc:picChg>
        <pc:picChg chg="del">
          <ac:chgData name="허정후" userId="5fe8e1e9-5508-4f3d-9825-0f6af90bf0f9" providerId="ADAL" clId="{CD4DA758-C7B5-49E8-8F57-C5F5D0398186}" dt="2023-12-17T13:30:41.645" v="1" actId="478"/>
          <ac:picMkLst>
            <pc:docMk/>
            <pc:sldMk cId="3751263712" sldId="308"/>
            <ac:picMk id="9" creationId="{A5084DCF-E666-61C9-AB37-51EB3CFB1BB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428E6-48F8-48FF-A4B7-7E67A9EE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A2431C-BDF3-4534-AED0-115F103A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173CB-01B9-4295-A804-D7D5973D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5FE16-77A0-484E-AEFD-FF537292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3DF25-2E65-49D3-8F6F-64AA1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8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BF82B-6C4A-4F6E-A362-B2BF3BD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6E910-43A6-49D6-A1B5-99E3B0C2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DB3AC-66C4-4244-9CE9-54D71AA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2C886-882E-440B-806C-B06DE508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323D2-1426-48F9-A93B-729E72E2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2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3C500-C8D9-4EBC-AC73-9F7D65F0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6CD17-259A-42E8-B64F-04C51B7C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76CE5-8C59-42A2-A597-465DEAC8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312C6-1DCE-41BC-B5FA-FCFF5BE3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39A5-69DC-4256-84CA-F160D48E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82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37A4D-E01E-45A7-B166-73EE7826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0D6757-7DA6-452C-9903-7536978F1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CC3C8-286B-4184-8752-32BC3B11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A751A-C45B-42C8-893F-826B22E7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7210C-0EDE-42F3-A19F-12B3884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5D590-E2D2-480C-AF73-67D855C5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3AF97-024B-4EF1-B5B6-2E362F07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1334B-2AA0-4E32-9445-B691EAB2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62D6F-224F-4433-9752-11A255D32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4EE0E-6C7E-4160-86AA-136E97F9F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390FB9-7573-4784-A2A4-EDF1B3C5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4B30B-9C6A-4C96-8DB5-BCE9A09F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11AC4-2315-46FE-81A4-FE4B8434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2D39CB-CB92-40B8-9B0C-3FBBBDF9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8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2E25-F5B3-41EE-BD3B-6965721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FE1863-7C02-424B-AF80-CDB39671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99FB34-90A4-44A0-9CF8-F0BC0FE4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75702-4955-406C-919C-D35A1B84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6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E1BA2-3103-4DB2-AAEB-ED1BAE45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5D5A54-85CA-45E5-9801-A3F15EEF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2AF2F-D0EC-4C7E-8979-4C17E3F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3A167-5C7C-4CD2-A3E4-B6F94583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1CEB6-C525-4AEB-BB3E-B1315690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96C9A-4472-4D30-BFAE-60CB397B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E3F16-D603-4838-BA1C-0C9EEDE4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873C6-9D3A-4C62-9D46-88E6BAAB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9C646-865F-49F4-8BDD-FB9A4DEC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258A6-5AAD-4F1F-976F-EDB5FF72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F4441E-0165-42AA-88F8-E53C4BAA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CA1E8-0D3C-4590-82E2-D018D6E6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74557-7FD9-416C-A8B5-FA6C4B55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A215C-B55F-4988-B45B-7667E8C7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F3B86-5A48-411F-8090-830140A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9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20652-E714-4A15-826F-1B53C709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14771D-DE0A-400C-8C59-8670E31F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EACB7-48C9-4FB8-8D34-7F4C6393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1818-B6CD-47B0-9353-395CC539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08922-CAE3-4884-AE59-2BC74144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4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371B8A-69A6-43D4-8783-6456E3350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9DA1AA-3028-44E4-B5B0-C19BF61DC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BCD8D-3E10-4F33-BC43-EACB05C0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365BE-78DE-4079-B7F3-706874E9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D9E52-1AFA-4482-A474-91FF4C5C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DF84FF-C412-430B-963A-695AABF7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E7982-A999-4B0A-85F1-A0D5C550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8EB6A-F091-464F-A783-1AE546A56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467A-4026-4A8D-97BF-715EF7FA6491}" type="datetimeFigureOut">
              <a:rPr lang="ko-KR" altLang="en-US" smtClean="0"/>
              <a:t>2023-12-17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1D2C7-63D5-4319-952D-A6F8404F4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517A-02D4-4037-9427-974339FE7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4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0C938C-F8B1-4FFF-8F74-6ED0A876B136}"/>
              </a:ext>
            </a:extLst>
          </p:cNvPr>
          <p:cNvSpPr txBox="1"/>
          <p:nvPr/>
        </p:nvSpPr>
        <p:spPr>
          <a:xfrm>
            <a:off x="7681700" y="4774978"/>
            <a:ext cx="29963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2018019534 </a:t>
            </a:r>
            <a:r>
              <a:rPr lang="ko-KR" altLang="en-US" sz="2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김해준</a:t>
            </a: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/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2020059716 </a:t>
            </a:r>
            <a:r>
              <a:rPr lang="ko-KR" altLang="en-US" sz="2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진형우</a:t>
            </a: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/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2022039561 </a:t>
            </a:r>
            <a:r>
              <a:rPr lang="ko-KR" altLang="en-US" sz="2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소유찬</a:t>
            </a: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/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2022093854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허정후</a:t>
            </a: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1FC92-B1C1-4C46-ABEF-2B6B78AA5915}"/>
              </a:ext>
            </a:extLst>
          </p:cNvPr>
          <p:cNvSpPr txBox="1"/>
          <p:nvPr/>
        </p:nvSpPr>
        <p:spPr>
          <a:xfrm>
            <a:off x="353883" y="293016"/>
            <a:ext cx="11484234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       ]</a:t>
            </a:r>
            <a:endParaRPr lang="ko-KR" altLang="en-US" sz="28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E8862-15B3-FDA5-8C16-812C4948E010}"/>
              </a:ext>
            </a:extLst>
          </p:cNvPr>
          <p:cNvSpPr txBox="1"/>
          <p:nvPr/>
        </p:nvSpPr>
        <p:spPr>
          <a:xfrm>
            <a:off x="2736744" y="1979999"/>
            <a:ext cx="671850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dirty="0" err="1">
                <a:latin typeface="+mj-lt"/>
              </a:rPr>
              <a:t>DataStructure</a:t>
            </a:r>
            <a:endParaRPr lang="ko-KR" altLang="en-US" sz="6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28FC4A-CC36-DB93-989B-7307725152B1}"/>
              </a:ext>
            </a:extLst>
          </p:cNvPr>
          <p:cNvSpPr txBox="1"/>
          <p:nvPr/>
        </p:nvSpPr>
        <p:spPr>
          <a:xfrm>
            <a:off x="3605572" y="2875002"/>
            <a:ext cx="49808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dirty="0" err="1">
                <a:latin typeface="+mj-lt"/>
              </a:rPr>
              <a:t>TeamProject</a:t>
            </a:r>
            <a:endParaRPr lang="ko-KR" altLang="en-US" sz="5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21356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B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CDDAE939-5DA7-5029-7E87-FA887FEE4D7E}"/>
              </a:ext>
            </a:extLst>
          </p:cNvPr>
          <p:cNvGrpSpPr/>
          <p:nvPr/>
        </p:nvGrpSpPr>
        <p:grpSpPr>
          <a:xfrm>
            <a:off x="4470394" y="1422400"/>
            <a:ext cx="3251211" cy="3093154"/>
            <a:chOff x="4470394" y="1422400"/>
            <a:chExt cx="3251211" cy="309315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4049933-013A-4DA4-B40F-DB900F3E4904}"/>
                </a:ext>
              </a:extLst>
            </p:cNvPr>
            <p:cNvSpPr txBox="1"/>
            <p:nvPr/>
          </p:nvSpPr>
          <p:spPr>
            <a:xfrm>
              <a:off x="4720465" y="1422400"/>
              <a:ext cx="2751074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600" dirty="0">
                  <a:latin typeface="+mj-lt"/>
                </a:rPr>
                <a:t>index</a:t>
              </a:r>
              <a:endParaRPr lang="ko-KR" altLang="en-US" sz="6600" dirty="0">
                <a:latin typeface="+mj-lt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C8D3BAE-3F57-FFCC-D50F-FE14AC42FEA9}"/>
                </a:ext>
              </a:extLst>
            </p:cNvPr>
            <p:cNvSpPr txBox="1"/>
            <p:nvPr/>
          </p:nvSpPr>
          <p:spPr>
            <a:xfrm>
              <a:off x="4470394" y="2530396"/>
              <a:ext cx="325121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3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정의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C92EFF4-BCAE-784A-5D8F-5D37A80396B8}"/>
                </a:ext>
              </a:extLst>
            </p:cNvPr>
            <p:cNvSpPr txBox="1"/>
            <p:nvPr/>
          </p:nvSpPr>
          <p:spPr>
            <a:xfrm>
              <a:off x="4880763" y="3230587"/>
              <a:ext cx="24304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3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 설명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A6DCAE-BF4F-8B1E-A3D4-A2A35D0D2F38}"/>
                </a:ext>
              </a:extLst>
            </p:cNvPr>
            <p:cNvSpPr txBox="1"/>
            <p:nvPr/>
          </p:nvSpPr>
          <p:spPr>
            <a:xfrm>
              <a:off x="4880764" y="3930779"/>
              <a:ext cx="24304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3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구현 결과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254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245DB8B0-BCF9-4A29-9197-7A48AFB9D1DC}"/>
              </a:ext>
            </a:extLst>
          </p:cNvPr>
          <p:cNvGrpSpPr/>
          <p:nvPr/>
        </p:nvGrpSpPr>
        <p:grpSpPr>
          <a:xfrm>
            <a:off x="901700" y="2721114"/>
            <a:ext cx="2847254" cy="1415772"/>
            <a:chOff x="901700" y="2721114"/>
            <a:chExt cx="2847254" cy="141577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2F75DDD-8FAC-423E-87FB-5D62741FF7B1}"/>
                </a:ext>
              </a:extLst>
            </p:cNvPr>
            <p:cNvSpPr txBox="1"/>
            <p:nvPr/>
          </p:nvSpPr>
          <p:spPr>
            <a:xfrm>
              <a:off x="901700" y="2721114"/>
              <a:ext cx="188865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latin typeface="+mj-lt"/>
                </a:rPr>
                <a:t>Part 1</a:t>
              </a:r>
              <a:endParaRPr lang="ko-KR" altLang="en-US" sz="4400" dirty="0">
                <a:latin typeface="+mj-lt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8839C2-BAAB-4531-A42C-39A13C09E321}"/>
                </a:ext>
              </a:extLst>
            </p:cNvPr>
            <p:cNvSpPr txBox="1"/>
            <p:nvPr/>
          </p:nvSpPr>
          <p:spPr>
            <a:xfrm>
              <a:off x="901700" y="3490555"/>
              <a:ext cx="28472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spc="-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5666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34996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1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6B1297BC-4D16-DB61-E0EB-AD5AF1CDF148}"/>
              </a:ext>
            </a:extLst>
          </p:cNvPr>
          <p:cNvGrpSpPr/>
          <p:nvPr/>
        </p:nvGrpSpPr>
        <p:grpSpPr>
          <a:xfrm>
            <a:off x="583708" y="1489861"/>
            <a:ext cx="8377411" cy="4770654"/>
            <a:chOff x="583708" y="1254728"/>
            <a:chExt cx="8377411" cy="477065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A32F306-D791-4185-9F69-842317C1DAE3}"/>
                </a:ext>
              </a:extLst>
            </p:cNvPr>
            <p:cNvSpPr txBox="1"/>
            <p:nvPr/>
          </p:nvSpPr>
          <p:spPr>
            <a:xfrm>
              <a:off x="583708" y="1254728"/>
              <a:ext cx="8377411" cy="7243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ko-KR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8</a:t>
              </a: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만개 </a:t>
              </a:r>
              <a:r>
                <a:rPr lang="en-US" altLang="ko-KR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LP</a:t>
              </a: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문제들의 결정변수들의 정보가 들어있다</a:t>
              </a:r>
              <a:endPara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just">
                <a:lnSpc>
                  <a:spcPct val="120000"/>
                </a:lnSpc>
              </a:pP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 정보들을  </a:t>
              </a:r>
              <a:r>
                <a:rPr lang="ko-KR" altLang="en-US" spc="-15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자료구조화하여</a:t>
              </a: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다음과 같은 서비스를 제공할 수 있는  프로그램을 만든다</a:t>
              </a:r>
              <a:endPara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B1FC728-F17B-6E35-1966-47268AC36A7B}"/>
                </a:ext>
              </a:extLst>
            </p:cNvPr>
            <p:cNvSpPr txBox="1"/>
            <p:nvPr/>
          </p:nvSpPr>
          <p:spPr>
            <a:xfrm>
              <a:off x="583708" y="2309428"/>
              <a:ext cx="8377411" cy="371595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342900" indent="-342900" algn="just">
                <a:lnSpc>
                  <a:spcPct val="120000"/>
                </a:lnSpc>
                <a:buAutoNum type="arabicPeriod"/>
              </a:pP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각 문제를 푸는데 소요된 시간</a:t>
              </a:r>
              <a:endPara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342900" indent="-342900" algn="just">
                <a:lnSpc>
                  <a:spcPct val="120000"/>
                </a:lnSpc>
                <a:buAutoNum type="arabicPeriod"/>
              </a:pP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각 문제가 풀렸는지에 대한 유무</a:t>
              </a:r>
              <a:endPara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342900" indent="-342900" algn="just">
                <a:lnSpc>
                  <a:spcPct val="120000"/>
                </a:lnSpc>
                <a:buAutoNum type="arabicPeriod"/>
              </a:pP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평균적으로 소요된 시간</a:t>
              </a:r>
              <a:endPara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342900" indent="-342900" algn="just">
                <a:lnSpc>
                  <a:spcPct val="120000"/>
                </a:lnSpc>
                <a:buAutoNum type="arabicPeriod"/>
              </a:pP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풀린 문제들의 최적 </a:t>
              </a:r>
              <a:r>
                <a:rPr lang="ko-KR" altLang="en-US" spc="-15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목적식</a:t>
              </a: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값</a:t>
              </a:r>
              <a:endPara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342900" indent="-342900" algn="just">
                <a:lnSpc>
                  <a:spcPct val="120000"/>
                </a:lnSpc>
                <a:buAutoNum type="arabicPeriod"/>
              </a:pP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풀린 문제들의 최적 해 값</a:t>
              </a:r>
              <a:endPara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342900" indent="-342900" algn="just">
                <a:lnSpc>
                  <a:spcPct val="120000"/>
                </a:lnSpc>
                <a:buAutoNum type="arabicPeriod"/>
              </a:pP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특정 변수가 사용된 문제들 중 풀렸는지에 대한 유무</a:t>
              </a:r>
              <a:endPara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342900" indent="-342900" algn="just">
                <a:lnSpc>
                  <a:spcPct val="120000"/>
                </a:lnSpc>
                <a:buAutoNum type="arabicPeriod"/>
              </a:pP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특정 변수가 사용된 문제들의 </a:t>
              </a:r>
              <a:r>
                <a:rPr lang="ko-KR" altLang="en-US" spc="-15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목적식</a:t>
              </a: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값</a:t>
              </a:r>
              <a:endPara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342900" indent="-342900" algn="just">
                <a:lnSpc>
                  <a:spcPct val="120000"/>
                </a:lnSpc>
                <a:buAutoNum type="arabicPeriod"/>
              </a:pP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특정 변수가 사용된 문제들의 최적 해 값</a:t>
              </a:r>
              <a:endPara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342900" indent="-342900" algn="just">
                <a:lnSpc>
                  <a:spcPct val="120000"/>
                </a:lnSpc>
                <a:buAutoNum type="arabicPeriod"/>
              </a:pP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어느 조건을 만족하는 </a:t>
              </a:r>
              <a:r>
                <a:rPr lang="ko-KR" altLang="en-US" spc="-15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목적식</a:t>
              </a: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값을 가진 문제</a:t>
              </a:r>
              <a:endPara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342900" indent="-342900" algn="just">
                <a:lnSpc>
                  <a:spcPct val="120000"/>
                </a:lnSpc>
                <a:buAutoNum type="arabicPeriod"/>
              </a:pP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어느 조건을 만족하는 특정변수를 가진 문제</a:t>
              </a:r>
              <a:endPara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342900" indent="-342900" algn="just">
                <a:lnSpc>
                  <a:spcPct val="120000"/>
                </a:lnSpc>
                <a:buAutoNum type="arabicPeriod"/>
              </a:pP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문제들의 </a:t>
              </a:r>
              <a:r>
                <a:rPr lang="ko-KR" altLang="en-US" spc="-15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목적식</a:t>
              </a:r>
              <a:r>
                <a:rPr lang="ko-KR" altLang="en-US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값의 순위</a:t>
              </a:r>
              <a:endPara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6EEFF0B2-AB20-5F61-A55E-BFDF56D4A66E}"/>
                </a:ext>
              </a:extLst>
            </p:cNvPr>
            <p:cNvCxnSpPr>
              <a:cxnSpLocks/>
            </p:cNvCxnSpPr>
            <p:nvPr/>
          </p:nvCxnSpPr>
          <p:spPr>
            <a:xfrm>
              <a:off x="583708" y="2115589"/>
              <a:ext cx="70307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056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245DB8B0-BCF9-4A29-9197-7A48AFB9D1DC}"/>
              </a:ext>
            </a:extLst>
          </p:cNvPr>
          <p:cNvGrpSpPr/>
          <p:nvPr/>
        </p:nvGrpSpPr>
        <p:grpSpPr>
          <a:xfrm>
            <a:off x="901700" y="2721114"/>
            <a:ext cx="2000869" cy="1415772"/>
            <a:chOff x="901700" y="2721114"/>
            <a:chExt cx="2000869" cy="141577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2F75DDD-8FAC-423E-87FB-5D62741FF7B1}"/>
                </a:ext>
              </a:extLst>
            </p:cNvPr>
            <p:cNvSpPr txBox="1"/>
            <p:nvPr/>
          </p:nvSpPr>
          <p:spPr>
            <a:xfrm>
              <a:off x="901700" y="2721114"/>
              <a:ext cx="199605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latin typeface="+mj-lt"/>
                </a:rPr>
                <a:t>Part 2</a:t>
              </a:r>
              <a:endParaRPr lang="ko-KR" altLang="en-US" sz="4400" dirty="0">
                <a:latin typeface="+mj-lt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8839C2-BAAB-4531-A42C-39A13C09E321}"/>
                </a:ext>
              </a:extLst>
            </p:cNvPr>
            <p:cNvSpPr txBox="1"/>
            <p:nvPr/>
          </p:nvSpPr>
          <p:spPr>
            <a:xfrm>
              <a:off x="901700" y="3490555"/>
              <a:ext cx="200086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spc="-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 설명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3889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368728" y="2051224"/>
            <a:ext cx="276909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Optimal Check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6368727" y="2980483"/>
            <a:ext cx="5634851" cy="15404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파일명과 데이터를 저장할 파일의 이름을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문제가 풀렸다면 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“optimal”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출력하고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문제가 풀리지 않았다면 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“infeasible”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풀린 문제와 풀리지 않은 문제를 </a:t>
            </a:r>
            <a:r>
              <a:rPr lang="en-US" altLang="ko-KR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ArrayList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보관하고 개수를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B0CD58C6-94BC-910A-6FC6-EFC785CDE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68" y="1397488"/>
            <a:ext cx="5922494" cy="475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06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733309" y="2051224"/>
            <a:ext cx="276909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printTime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6733309" y="2980483"/>
            <a:ext cx="5270269" cy="12450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읽을 데이터 파일명과 출력할 데이터 파일명을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소요시간이 적힌 데이터를 받아 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csv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파일에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걸린 시간을 모두 더해 평균시간을 계산하고 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csv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파일에 출력한다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733309" y="2797233"/>
            <a:ext cx="54586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96CA67E2-16C8-7E67-E41E-2974CA0D3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62" y="1746971"/>
            <a:ext cx="630555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094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470581" y="2051224"/>
            <a:ext cx="276909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printObjValue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6368727" y="2980483"/>
            <a:ext cx="5634851" cy="654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읽을 데이터 파일명과 출력할 데이터 파일명을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풀린 문제에 한해 각 문제 번호 옆에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값을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467475" y="2797233"/>
            <a:ext cx="5724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EDA2D49-45F9-FE98-8F9A-4FFB22262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051224"/>
            <a:ext cx="631507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01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889750" y="2021478"/>
            <a:ext cx="276909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printValue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6889750" y="2980483"/>
            <a:ext cx="5113828" cy="12450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읽을 데이터 파일명과 출력할 파일명을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파일에 데이터가 있다면 첫번째 줄에서 헤더를 추출하여 작성한다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풀린 문제에 대한 최적 솔루션 값들을 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csv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파일에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0EDC4229-17E5-76F4-ADD7-9A4A6208F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75" y="1342382"/>
            <a:ext cx="65055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15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7895818" y="2147185"/>
            <a:ext cx="276909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LowK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7895818" y="2797233"/>
            <a:ext cx="42961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D6C398-980C-159E-7E9F-60CDA3C651C1}"/>
              </a:ext>
            </a:extLst>
          </p:cNvPr>
          <p:cNvSpPr txBox="1"/>
          <p:nvPr/>
        </p:nvSpPr>
        <p:spPr>
          <a:xfrm>
            <a:off x="7895818" y="2980483"/>
            <a:ext cx="4107760" cy="15404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원하는 정수 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읽을 데이터 파일명을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maxHeap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만들어 데이터를 넣고 </a:t>
            </a:r>
            <a:r>
              <a:rPr lang="en-US" altLang="ko-KR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maxHeap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크기가 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같을 때까지 가장 큰 값을 제거한다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maxHeap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크기가 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된 후 가장 큰 값을 제거하면 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번째로 작은 데이터 값이 출력된다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1DA0C5A-CE5C-32DB-2708-1B146D55A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72" y="1521565"/>
            <a:ext cx="6951839" cy="403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9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D643F15-3C98-5309-700C-31BC48696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25" y="1667440"/>
            <a:ext cx="7221870" cy="3567948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889750" y="2140243"/>
            <a:ext cx="276909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TopK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6889750" y="2980483"/>
            <a:ext cx="5113828" cy="15404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정수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k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읽을 데이터 파일명을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데이터를 읽어 </a:t>
            </a:r>
            <a:r>
              <a:rPr lang="en-US" altLang="ko-KR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minHeap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넣고 </a:t>
            </a:r>
            <a:r>
              <a:rPr lang="en-US" altLang="ko-KR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minHeap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크기가 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같아 질 때까지 가장 작은 값을 제거한다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크기가 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된 후 가장 작은 값을 제거하면 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번째로 큰 값이 출력된다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308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8067496" y="1727873"/>
            <a:ext cx="4054835" cy="10754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averageTimeForProblemsWithVariale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8067496" y="2980483"/>
            <a:ext cx="3936082" cy="21314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찾을 변수 이름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변수가 포함된 문제 데이터의 파일명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걸린시간에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대한 파일명을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ArrayList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두개를 만들어 각각 특정 변수가 포함된 문제와 걸린 시간을 저장한다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문제와 시간을 대조하며 문제가 풀렸다면 걸린 시간을 저장하고 평균을 계산하여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1E978701-7C55-16F1-D6BC-863796619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5" y="1099641"/>
            <a:ext cx="7568851" cy="542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08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7463246" y="2980483"/>
            <a:ext cx="4540332" cy="18359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찾는 변수명과 사용된 변수의 데이터 파일명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풀린 문제의 데이터 파일명을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변수가 포함된 문제의 번호를 찾아낸다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문제가 풀렸는지 유무를 저장한다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변수를 포함하는 문제 각각 풀렸는지 유무를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7463246" y="2797233"/>
            <a:ext cx="47287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AF178C32-5481-A442-9BEA-BD326D3F2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2" y="1193165"/>
            <a:ext cx="7327075" cy="53192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7242761" y="1735449"/>
            <a:ext cx="4981302" cy="10754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findSolvedAndUnsolvedProblems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WithVariable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4849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444383" y="1721746"/>
            <a:ext cx="5660531" cy="10754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findObjectiveValuesOfSolvedProblemsWithVariable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6531469" y="2980483"/>
            <a:ext cx="5472109" cy="15404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원하는 변수명과 변수가 포함된 데이터 파일명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풀렸는지 유무에 대한 파일명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값의 파일명을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변수가 포함된 문제의 번호를 찾는다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문제마다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값을 확인하여 </a:t>
            </a:r>
            <a:r>
              <a:rPr lang="en-US" altLang="ko-KR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ArrayList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저장한다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변수를 포함하는 문제의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값을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531469" y="2797233"/>
            <a:ext cx="56605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EA6DAB8D-0A84-7955-8A36-65556F90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2" y="1099639"/>
            <a:ext cx="6343047" cy="553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7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7219406" y="1735166"/>
            <a:ext cx="4641668" cy="10754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findOptimalValuesOfVariableInSolvedProblems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7361910" y="2980483"/>
            <a:ext cx="4641668" cy="18359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원하는 변수 명과 최적해에 대한 데이터 파일명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optimal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유무에 대한 파일명을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풀린 문제 안에서 원하는 변수가 포함된 문제의 번호를 찾아낸다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최적해에 대한 데이터 파일에서 원하는 변수의 최적해 값을 읽어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FCDAF248-9D26-3EF2-EAAD-EDF58535C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08245"/>
            <a:ext cx="7067006" cy="555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7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7332617" y="1721780"/>
            <a:ext cx="4171406" cy="10754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findProblemsWithObjectiveValueLessThan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7498080" y="2980483"/>
            <a:ext cx="4505498" cy="18359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값의 데이터 파일명과 원하는 조건의 수치를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풀린 문제들 중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값이 원하는 수치보다 적다면 </a:t>
            </a:r>
            <a:r>
              <a:rPr lang="en-US" altLang="ko-KR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problemIndices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저장한다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원하는 수치보다 작은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값을 가지는 문제를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E2139F5A-CF95-72F4-2182-B9592097F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2" y="1933723"/>
            <a:ext cx="7241177" cy="39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4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368728" y="2051224"/>
            <a:ext cx="570135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findProblemsWithVariableCondition</a:t>
            </a:r>
            <a:r>
              <a:rPr lang="en-US" altLang="ko-KR" sz="2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6368727" y="2980483"/>
            <a:ext cx="5634851" cy="12450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최적해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값 데이터 파일명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원하는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변수명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연산자</a:t>
            </a: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원하는 조건을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원하는 변수를 포함하는 문제들을 저장한다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입력받은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연산자를 인식하여 저장한다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101C7A64-9B06-5D61-75BD-81E52ABBC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98" y="959161"/>
            <a:ext cx="4668989" cy="556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06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39C3921A-580E-AB72-EC9E-5CEFAADE9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8681"/>
            <a:ext cx="6731723" cy="31041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1BB23C-DD08-DBDF-7E08-FBEBDFE45A3B}"/>
              </a:ext>
            </a:extLst>
          </p:cNvPr>
          <p:cNvSpPr txBox="1"/>
          <p:nvPr/>
        </p:nvSpPr>
        <p:spPr>
          <a:xfrm>
            <a:off x="6368728" y="2051224"/>
            <a:ext cx="570135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findProblemsWithVariableCondition</a:t>
            </a:r>
            <a:r>
              <a:rPr lang="en-US" altLang="ko-KR" sz="2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6566263" y="2980483"/>
            <a:ext cx="5437316" cy="9495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저장된 조건과 원하는 수치에 따라 최적해 값을 분류해내고 </a:t>
            </a:r>
            <a:r>
              <a:rPr lang="en-US" altLang="ko-KR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ArrayList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저장한다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조건에 만족하는 최적해 값을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22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652F89CD-568A-478D-F914-497C1B70E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1" y="1586592"/>
            <a:ext cx="7343871" cy="3830137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1BB23C-DD08-DBDF-7E08-FBEBDFE45A3B}"/>
              </a:ext>
            </a:extLst>
          </p:cNvPr>
          <p:cNvSpPr txBox="1"/>
          <p:nvPr/>
        </p:nvSpPr>
        <p:spPr>
          <a:xfrm>
            <a:off x="6096000" y="1744694"/>
            <a:ext cx="5974080" cy="10754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findTotalCountOfProblemsWithObjectiveValueLessThan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6244046" y="2980483"/>
            <a:ext cx="5759533" cy="9495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데이터 파일명과 원하는 조건을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입력된 수치보다 작은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값을 가지는 문제의 총 개수를 세서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453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1BB23C-DD08-DBDF-7E08-FBEBDFE45A3B}"/>
              </a:ext>
            </a:extLst>
          </p:cNvPr>
          <p:cNvSpPr txBox="1"/>
          <p:nvPr/>
        </p:nvSpPr>
        <p:spPr>
          <a:xfrm>
            <a:off x="6096000" y="1744694"/>
            <a:ext cx="5974080" cy="10754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finTotalCountOfProblemsWithObjectiveValueMoreThan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6244046" y="2980483"/>
            <a:ext cx="5759533" cy="9495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데이터 파일명과 원하는 조건을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입력된 수치보다 큰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값을 가지는 문제의 총 개수를 세서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2414B87-9BE9-646B-4FFA-B6BFCFD50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1" y="1588770"/>
            <a:ext cx="5974080" cy="38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9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FB3E2015-36F9-A83D-13F7-A25CCCC9C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239341"/>
            <a:ext cx="6216328" cy="42550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1BB23C-DD08-DBDF-7E08-FBEBDFE45A3B}"/>
              </a:ext>
            </a:extLst>
          </p:cNvPr>
          <p:cNvSpPr txBox="1"/>
          <p:nvPr/>
        </p:nvSpPr>
        <p:spPr>
          <a:xfrm>
            <a:off x="6096000" y="1666313"/>
            <a:ext cx="5974080" cy="10754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findTotalCountOfProblemsWithObjectiveValueMoreLessThan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6244046" y="2980483"/>
            <a:ext cx="5759533" cy="9495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데이터 파일명과 원하는 조건을 받는다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입력된 조건에 부합하는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값을 가지는 문제의 총 개수를 세서 출력한다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244046" y="2797233"/>
            <a:ext cx="59479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33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245DB8B0-BCF9-4A29-9197-7A48AFB9D1DC}"/>
              </a:ext>
            </a:extLst>
          </p:cNvPr>
          <p:cNvGrpSpPr/>
          <p:nvPr/>
        </p:nvGrpSpPr>
        <p:grpSpPr>
          <a:xfrm>
            <a:off x="901700" y="2721114"/>
            <a:ext cx="2000869" cy="1415772"/>
            <a:chOff x="901700" y="2721114"/>
            <a:chExt cx="2000869" cy="141577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2F75DDD-8FAC-423E-87FB-5D62741FF7B1}"/>
                </a:ext>
              </a:extLst>
            </p:cNvPr>
            <p:cNvSpPr txBox="1"/>
            <p:nvPr/>
          </p:nvSpPr>
          <p:spPr>
            <a:xfrm>
              <a:off x="901700" y="2721114"/>
              <a:ext cx="199926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latin typeface="+mj-lt"/>
                </a:rPr>
                <a:t>Part 3</a:t>
              </a:r>
              <a:endParaRPr lang="ko-KR" altLang="en-US" sz="4400" dirty="0">
                <a:latin typeface="+mj-lt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8839C2-BAAB-4531-A42C-39A13C09E321}"/>
                </a:ext>
              </a:extLst>
            </p:cNvPr>
            <p:cNvSpPr txBox="1"/>
            <p:nvPr/>
          </p:nvSpPr>
          <p:spPr>
            <a:xfrm>
              <a:off x="901700" y="3490555"/>
              <a:ext cx="200086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spc="-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결과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2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368728" y="2051224"/>
            <a:ext cx="276909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Optimal Check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F68BAAC-7C4B-8F39-7279-418975F9E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478" y="1410788"/>
            <a:ext cx="1917949" cy="48713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845F95-FAF2-BB79-7325-C12B9D895B03}"/>
              </a:ext>
            </a:extLst>
          </p:cNvPr>
          <p:cNvSpPr txBox="1"/>
          <p:nvPr/>
        </p:nvSpPr>
        <p:spPr>
          <a:xfrm>
            <a:off x="6368728" y="2875487"/>
            <a:ext cx="3648658" cy="39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문제가 풀렸는지에 대한 유무</a:t>
            </a:r>
            <a:endParaRPr lang="en-US" altLang="ko-KR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367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368728" y="2051224"/>
            <a:ext cx="276909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printTime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07811C2C-F115-5F8D-F97D-E2E6C9A9B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16" y="2208407"/>
            <a:ext cx="4425268" cy="26876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2441A6-029F-C9F3-A0B1-F48F622F6F80}"/>
              </a:ext>
            </a:extLst>
          </p:cNvPr>
          <p:cNvSpPr txBox="1"/>
          <p:nvPr/>
        </p:nvSpPr>
        <p:spPr>
          <a:xfrm>
            <a:off x="6368728" y="2875487"/>
            <a:ext cx="3648658" cy="39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문제를 푸는데 소요된 시간</a:t>
            </a:r>
            <a:endParaRPr lang="en-US" altLang="ko-KR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6709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368728" y="2141343"/>
            <a:ext cx="276909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printObjValue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467475" y="2797233"/>
            <a:ext cx="5724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E94672E2-E6D9-0742-E264-663B51190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18" y="2420555"/>
            <a:ext cx="4246678" cy="24772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9A3FEB-5403-D700-2881-5ACD507C4C42}"/>
              </a:ext>
            </a:extLst>
          </p:cNvPr>
          <p:cNvSpPr txBox="1"/>
          <p:nvPr/>
        </p:nvSpPr>
        <p:spPr>
          <a:xfrm>
            <a:off x="6368728" y="2875487"/>
            <a:ext cx="3648658" cy="39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풀린 문제들의 최적 </a:t>
            </a:r>
            <a:r>
              <a:rPr lang="ko-KR" altLang="en-US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</a:t>
            </a:r>
            <a:endParaRPr lang="en-US" altLang="ko-KR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75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368728" y="2160557"/>
            <a:ext cx="276909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printValue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2A490C1-F00A-AFE6-4B58-A2A38FD30F79}"/>
              </a:ext>
            </a:extLst>
          </p:cNvPr>
          <p:cNvSpPr txBox="1"/>
          <p:nvPr/>
        </p:nvSpPr>
        <p:spPr>
          <a:xfrm>
            <a:off x="6368728" y="2875487"/>
            <a:ext cx="3648658" cy="39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풀린 문제들의 최적 해 값</a:t>
            </a:r>
            <a:endParaRPr lang="en-US" altLang="ko-KR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A2257A-76BF-43C3-FE11-4A9A8FC31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71" y="1659458"/>
            <a:ext cx="5760512" cy="353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7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862354" y="2238810"/>
            <a:ext cx="276909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LowK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862354" y="2797233"/>
            <a:ext cx="53296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11D605-83FD-CB3C-8C22-924F48FFA499}"/>
              </a:ext>
            </a:extLst>
          </p:cNvPr>
          <p:cNvSpPr txBox="1"/>
          <p:nvPr/>
        </p:nvSpPr>
        <p:spPr>
          <a:xfrm>
            <a:off x="6889750" y="2963689"/>
            <a:ext cx="3648658" cy="39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 중 </a:t>
            </a:r>
            <a:r>
              <a: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번째로 작은 값</a:t>
            </a:r>
            <a:endParaRPr lang="en-US" altLang="ko-KR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5F5C29D-FAC0-66A7-55F1-193935111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98" y="2459487"/>
            <a:ext cx="4610743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3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368728" y="2166369"/>
            <a:ext cx="276909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TopK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D10DDDD-FE66-D8BB-EBC0-A61CE355562A}"/>
              </a:ext>
            </a:extLst>
          </p:cNvPr>
          <p:cNvSpPr txBox="1"/>
          <p:nvPr/>
        </p:nvSpPr>
        <p:spPr>
          <a:xfrm>
            <a:off x="6368728" y="2869675"/>
            <a:ext cx="3648658" cy="39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 중 </a:t>
            </a:r>
            <a:r>
              <a:rPr lang="en-US" altLang="ko-KR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번째로 큰 값</a:t>
            </a:r>
            <a:endParaRPr lang="en-US" altLang="ko-KR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23D0A38-D00F-2118-96C9-53AE1E16C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83" y="2445581"/>
            <a:ext cx="3753374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63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291129" y="2201914"/>
            <a:ext cx="582327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averageTimeForProblemsWithVariale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7657BD8-9636-2DDC-FC5B-2556A6517831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9EFD46-94FB-C06F-0064-C5CD47580B2E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3C3DACF-E25A-1581-5EA7-C4D702211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23" y="2481126"/>
            <a:ext cx="5200650" cy="13906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FD6976-F482-573F-1050-F2C3630898DF}"/>
              </a:ext>
            </a:extLst>
          </p:cNvPr>
          <p:cNvSpPr txBox="1"/>
          <p:nvPr/>
        </p:nvSpPr>
        <p:spPr>
          <a:xfrm>
            <a:off x="6368728" y="2875487"/>
            <a:ext cx="3930304" cy="39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특정 변수가 사용된 문제들의 시간 평균</a:t>
            </a:r>
            <a:endParaRPr lang="en-US" altLang="ko-KR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31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5438899" y="2797233"/>
            <a:ext cx="67531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5320938" y="2169082"/>
            <a:ext cx="705117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findSolvedAndUnsolvedProblemsWithVariable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81C743-6976-A485-219C-9CB9BCFF80D0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335BCE-3C56-AD5F-9D4F-702613CEF815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3060674-EA31-3E84-78B0-9BAF79926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3459222"/>
            <a:ext cx="9029700" cy="13811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4F8B46-DF9C-CC8F-9D50-ED3C02D3279B}"/>
              </a:ext>
            </a:extLst>
          </p:cNvPr>
          <p:cNvSpPr txBox="1"/>
          <p:nvPr/>
        </p:nvSpPr>
        <p:spPr>
          <a:xfrm>
            <a:off x="5438899" y="2875487"/>
            <a:ext cx="4578487" cy="39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특정변수가 사용된 문제 중 </a:t>
            </a:r>
            <a:r>
              <a:rPr lang="ko-KR" altLang="en-US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풀렸는지 유무</a:t>
            </a:r>
            <a:endParaRPr lang="en-US" altLang="ko-KR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631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4746172" y="2187257"/>
            <a:ext cx="7445828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findObjectiveValuesOfSolvedProblemsWithVariable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4894217" y="2797233"/>
            <a:ext cx="7297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8823AD6-2767-FF48-9508-6F682DC8C94A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4358D8-BC57-20FA-9023-8E4E3F1CBF2A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4C3730D-FE22-691B-218E-2A677C687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3521646"/>
            <a:ext cx="9124950" cy="12763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48F3D87-B028-AFD7-1235-7B3085527429}"/>
              </a:ext>
            </a:extLst>
          </p:cNvPr>
          <p:cNvSpPr txBox="1"/>
          <p:nvPr/>
        </p:nvSpPr>
        <p:spPr>
          <a:xfrm>
            <a:off x="4796678" y="2864402"/>
            <a:ext cx="3943562" cy="39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변수가 포함된 문제들의 </a:t>
            </a:r>
            <a:r>
              <a:rPr lang="ko-KR" altLang="en-US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</a:t>
            </a:r>
            <a:endParaRPr lang="en-US" altLang="ko-KR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588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5366064" y="2225374"/>
            <a:ext cx="6825936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findOptimalValuesOfVariableInSolvedProblems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5510151" y="2797233"/>
            <a:ext cx="66818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049178F-C7C5-E807-F8EE-0287AEBBA326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D67219-FF25-5520-32A7-0175AE9EC705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01E97B-CC34-8AE8-A422-5AA9AE14785E}"/>
              </a:ext>
            </a:extLst>
          </p:cNvPr>
          <p:cNvSpPr txBox="1"/>
          <p:nvPr/>
        </p:nvSpPr>
        <p:spPr>
          <a:xfrm>
            <a:off x="5366064" y="2883875"/>
            <a:ext cx="3648658" cy="39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변수가 사용된 문제의 최적해 값 </a:t>
            </a:r>
            <a:endParaRPr lang="en-US" altLang="ko-KR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9974FFC-D7E0-3ECB-EE8A-99872412D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731" y="3429000"/>
            <a:ext cx="90487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47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5913276" y="2181433"/>
            <a:ext cx="6183086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findProblemsWithObjectiveValueLessThan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042956" y="2797233"/>
            <a:ext cx="61490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35C1412-B640-8CE0-46FB-E5D24AAC43A5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8A7AC-C931-5DA8-6FD1-D643AB12FC52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3F32D14-B3D5-F8E1-0419-F28D92BAE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189" y="3413034"/>
            <a:ext cx="6734175" cy="1295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10CB28-2CAD-83D9-C243-FE8C4DB2B4B9}"/>
              </a:ext>
            </a:extLst>
          </p:cNvPr>
          <p:cNvSpPr txBox="1"/>
          <p:nvPr/>
        </p:nvSpPr>
        <p:spPr>
          <a:xfrm>
            <a:off x="6042956" y="2883875"/>
            <a:ext cx="4621085" cy="39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주어진 값보다 작은 </a:t>
            </a:r>
            <a:r>
              <a:rPr lang="ko-KR" altLang="en-US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값을 가진 문제</a:t>
            </a:r>
            <a:endParaRPr lang="en-US" altLang="ko-KR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279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32F306-D791-4185-9F69-842317C1DAE3}"/>
              </a:ext>
            </a:extLst>
          </p:cNvPr>
          <p:cNvSpPr txBox="1"/>
          <p:nvPr/>
        </p:nvSpPr>
        <p:spPr>
          <a:xfrm>
            <a:off x="6333103" y="2186615"/>
            <a:ext cx="5701352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findProblemsWithVariableCondition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6368728" y="2797233"/>
            <a:ext cx="5823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E6E577E-3E3C-69B7-5C71-5191A696182D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A79823-25BA-B1E8-F542-6712B65A7CDA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47D1AB-2152-1870-C7E8-3B41CB33A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7" y="3529347"/>
            <a:ext cx="6715125" cy="13716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1F35972-2744-91E7-01C4-DCB23F70A304}"/>
              </a:ext>
            </a:extLst>
          </p:cNvPr>
          <p:cNvSpPr txBox="1"/>
          <p:nvPr/>
        </p:nvSpPr>
        <p:spPr>
          <a:xfrm>
            <a:off x="6368728" y="2914462"/>
            <a:ext cx="4621085" cy="391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주어진 값보다 작은 최적해 값을 가진 문제</a:t>
            </a:r>
            <a:endParaRPr lang="en-US" altLang="ko-KR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32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 flipV="1">
            <a:off x="4258491" y="2797233"/>
            <a:ext cx="7933509" cy="678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1BB23C-DD08-DBDF-7E08-FBEBDFE45A3B}"/>
              </a:ext>
            </a:extLst>
          </p:cNvPr>
          <p:cNvSpPr txBox="1"/>
          <p:nvPr/>
        </p:nvSpPr>
        <p:spPr>
          <a:xfrm>
            <a:off x="4140925" y="2340745"/>
            <a:ext cx="8168640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findTotalCountOfProblemsWithObjectiveValueLessThan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4140925" y="2899168"/>
            <a:ext cx="5759533" cy="358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원하는 수치보다 작은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값을 가지는 문제 개수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F9CB7-4825-CD3B-4CCB-947D126BA2AC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2080F8-A2D2-5978-535C-DCD63DDE558E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AC8808C-9108-5AF1-B9A2-13089A067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672" y="3501737"/>
            <a:ext cx="7258111" cy="184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9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4241074" y="2797233"/>
            <a:ext cx="79509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1BB23C-DD08-DBDF-7E08-FBEBDFE45A3B}"/>
              </a:ext>
            </a:extLst>
          </p:cNvPr>
          <p:cNvSpPr txBox="1"/>
          <p:nvPr/>
        </p:nvSpPr>
        <p:spPr>
          <a:xfrm>
            <a:off x="3927566" y="2238810"/>
            <a:ext cx="8252369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findTotalCountOfProblemsWithObjectiveValueMoreThan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4241074" y="2980483"/>
            <a:ext cx="7762505" cy="358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원하는 수치보다 큰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값을 가지는 문제 개수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0C1A56-8848-9833-113B-CEAA14F66BD8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7FDDA-CA97-E5B4-5DB8-C191E0E13701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D1E4F89-D8D6-B572-88DC-800848830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478" y="3706370"/>
            <a:ext cx="6879044" cy="169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2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1BB23C-DD08-DBDF-7E08-FBEBDFE45A3B}"/>
              </a:ext>
            </a:extLst>
          </p:cNvPr>
          <p:cNvSpPr txBox="1"/>
          <p:nvPr/>
        </p:nvSpPr>
        <p:spPr>
          <a:xfrm>
            <a:off x="3239588" y="2238810"/>
            <a:ext cx="8865326" cy="55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8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findTotalCountOfProblemsWithObjectiveValueMoreLessThan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C728-F17B-6E35-1966-47268AC36A7B}"/>
              </a:ext>
            </a:extLst>
          </p:cNvPr>
          <p:cNvSpPr txBox="1"/>
          <p:nvPr/>
        </p:nvSpPr>
        <p:spPr>
          <a:xfrm>
            <a:off x="3335384" y="2980483"/>
            <a:ext cx="8668196" cy="358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원하는 범위 내의 </a:t>
            </a:r>
            <a:r>
              <a:rPr lang="ko-KR" altLang="en-US" sz="16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목적식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값을 가지는 문제의 개수</a:t>
            </a:r>
            <a:endParaRPr lang="en-US" altLang="ko-KR" sz="16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EFF0B2-AB20-5F61-A55E-BFDF56D4A66E}"/>
              </a:ext>
            </a:extLst>
          </p:cNvPr>
          <p:cNvCxnSpPr>
            <a:cxnSpLocks/>
          </p:cNvCxnSpPr>
          <p:nvPr/>
        </p:nvCxnSpPr>
        <p:spPr>
          <a:xfrm>
            <a:off x="3335383" y="2797233"/>
            <a:ext cx="88566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9855A18-98B6-C5CB-2A06-9DE3F1EC354F}"/>
              </a:ext>
            </a:extLst>
          </p:cNvPr>
          <p:cNvSpPr txBox="1"/>
          <p:nvPr/>
        </p:nvSpPr>
        <p:spPr>
          <a:xfrm>
            <a:off x="1676400" y="330200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CE1D3-829B-8F4E-A0C8-86403A3948DB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C9FFD05-6639-3D7B-36FE-4C66706CC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695" y="3791493"/>
            <a:ext cx="6660610" cy="167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7524B6-6034-44BA-A115-23C4556D9C5F}"/>
              </a:ext>
            </a:extLst>
          </p:cNvPr>
          <p:cNvSpPr txBox="1"/>
          <p:nvPr/>
        </p:nvSpPr>
        <p:spPr>
          <a:xfrm>
            <a:off x="4368603" y="2791896"/>
            <a:ext cx="34547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spc="-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5" name="양쪽 대괄호 4">
            <a:extLst>
              <a:ext uri="{FF2B5EF4-FFF2-40B4-BE49-F238E27FC236}">
                <a16:creationId xmlns:a16="http://schemas.microsoft.com/office/drawing/2014/main" id="{AEBCEBE6-A4C2-4FFB-B291-7650A0C5D976}"/>
              </a:ext>
            </a:extLst>
          </p:cNvPr>
          <p:cNvSpPr/>
          <p:nvPr/>
        </p:nvSpPr>
        <p:spPr>
          <a:xfrm>
            <a:off x="1407042" y="978195"/>
            <a:ext cx="9377916" cy="4550733"/>
          </a:xfrm>
          <a:prstGeom prst="bracketPair">
            <a:avLst>
              <a:gd name="adj" fmla="val 1116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023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Pretendard ExtraBold">
      <a:majorFont>
        <a:latin typeface="Montserrat Black"/>
        <a:ea typeface="Pretendard ExtraBold"/>
        <a:cs typeface=""/>
      </a:majorFont>
      <a:minorFont>
        <a:latin typeface="Montserrat SemiBol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853</Words>
  <Application>Microsoft Office PowerPoint</Application>
  <PresentationFormat>와이드스크린</PresentationFormat>
  <Paragraphs>188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4" baseType="lpstr">
      <vt:lpstr>나눔고딕</vt:lpstr>
      <vt:lpstr>Montserrat Black</vt:lpstr>
      <vt:lpstr>Arial</vt:lpstr>
      <vt:lpstr>Montserrat SemiBold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허정후</cp:lastModifiedBy>
  <cp:revision>37</cp:revision>
  <dcterms:created xsi:type="dcterms:W3CDTF">2021-10-22T06:13:27Z</dcterms:created>
  <dcterms:modified xsi:type="dcterms:W3CDTF">2023-12-17T13:54:57Z</dcterms:modified>
</cp:coreProperties>
</file>